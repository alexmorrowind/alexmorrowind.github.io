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607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B1Pay × Octo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115568"/>
            <a:ext cx="10607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BED3EB"/>
                </a:solidFill>
                <a:latin typeface="Aptos"/>
              </a:rPr>
              <a:t>UZ: B1Pay × Octo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0020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6E5F6"/>
                </a:solidFill>
                <a:latin typeface="Aptos"/>
              </a:rPr>
              <a:t>Бизнес-модель и предложение о партнёрстве для Узбекистана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38528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0C6DE"/>
                </a:solidFill>
                <a:latin typeface="Aptos"/>
              </a:rPr>
              <a:t>UZ: O‘zbekiston uchun biznes modeli va hamkorlik taklifi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95728"/>
            <a:ext cx="106070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Сравнить → выбрать → подтвердить → получить сервис через лицензированного партнёра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26080"/>
            <a:ext cx="10607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BED3EB"/>
                </a:solidFill>
                <a:latin typeface="Aptos"/>
              </a:rPr>
              <a:t>UZ: Solishtirish → tanlash → tasdiqlash → litsenziyalangan hamkor orqali xizmat olish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977639"/>
            <a:ext cx="3291840" cy="1188720"/>
          </a:xfrm>
          <a:prstGeom prst="roundRect">
            <a:avLst/>
          </a:prstGeom>
          <a:solidFill>
            <a:srgbClr val="1F3E68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3977639"/>
            <a:ext cx="64008" cy="118872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087368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343400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B1Pay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636007"/>
            <a:ext cx="2999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02D3E"/>
                </a:solidFill>
                <a:latin typeface="Aptos"/>
              </a:rPr>
              <a:t>RU: Сайт, приложение, каталог, заявки, MyID/QR, аналитика
UZ: Sayt, ilova, katalog, arizalar, MyID/QR va tahlil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3977639"/>
            <a:ext cx="3291840" cy="1188720"/>
          </a:xfrm>
          <a:prstGeom prst="roundRect">
            <a:avLst/>
          </a:prstGeom>
          <a:solidFill>
            <a:srgbClr val="1F3E68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8" y="3977639"/>
            <a:ext cx="64008" cy="118872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4087368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Octo / банк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43400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Octo / 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636007"/>
            <a:ext cx="2999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02D3E"/>
                </a:solidFill>
                <a:latin typeface="Aptos"/>
              </a:rPr>
              <a:t>RU: Платёжная инфраструктура и регулируемая операция в согласованной роли
UZ: To‘lov infratuzilmasi va kelishilgan roldagi tartibga solinadigan operatsiya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3977639"/>
            <a:ext cx="3291840" cy="1188720"/>
          </a:xfrm>
          <a:prstGeom prst="roundRect">
            <a:avLst/>
          </a:prstGeom>
          <a:solidFill>
            <a:srgbClr val="1F3E68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11312" y="3977639"/>
            <a:ext cx="64008" cy="11887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087368"/>
            <a:ext cx="3017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Пользователь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343400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Foydalanuvchi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636007"/>
            <a:ext cx="29992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02D3E"/>
                </a:solidFill>
                <a:latin typeface="Aptos"/>
              </a:rPr>
              <a:t>RU: Понятные условия, подтверждение личности и статус заявки
UZ: Tushunarli shartlar, shaxsni tasdiqlash va ariza holati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080760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0C6DE"/>
                </a:solidFill>
                <a:latin typeface="Aptos"/>
              </a:rPr>
              <a:t>Концепция для переговоров • 10 сентября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318504"/>
            <a:ext cx="10332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B0C6DE"/>
                </a:solidFill>
                <a:latin typeface="Aptos"/>
              </a:rPr>
              <a:t>Muzokaralar uchun konsepsiya • 2026-yil 10-sentabr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Краткое 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Qisqacha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Что именно предлагаем партнёру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Hamkorga nimani taklif qilamiz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5349240" cy="342900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64008" cy="342900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7"/>
            <a:ext cx="5074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Проблема рынка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48840"/>
            <a:ext cx="5074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Bozor muammosi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68880"/>
            <a:ext cx="5038344" cy="2660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2D3E"/>
                </a:solidFill>
                <a:latin typeface="Aptos"/>
              </a:rPr>
              <a:t>• Пользователь сравнивает предложения на разных сайтах.
  UZ: Foydalanuvchi takliflarni turli saytlarda solishtiradi.
• Условия, комиссии и требования часто непонятны.
  UZ: Shartlar, komissiyalar va talablar ko‘pincha tushunarsiz.
• Заявка и подтверждение личности проходят в разных системах.
  UZ: Ariza va shaxsni tasdiqlash turli tizimlarda amalga oshadi.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5349240" cy="34290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64008" cy="342900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892807"/>
            <a:ext cx="5074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Решение B1Pay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48840"/>
            <a:ext cx="5074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B1Pay yechimi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468880"/>
            <a:ext cx="5038344" cy="2660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2D3E"/>
                </a:solidFill>
                <a:latin typeface="Aptos"/>
              </a:rPr>
              <a:t>• Одна витрина банковских и финансовых предложений.
  UZ: Bank va moliyaviy takliflar uchun yagona vitrina.
• Сравнение условий, калькуляторы и понятная заявка.
  UZ: Shartlarni solishtirish, kalkulyatorlar va tushunarli ariza.
• MyID на телефоне и QR-вход на сайте.
  UZ: Telefonda MyID va saytda QR orqali kirish.
• Операции выполняются лицензированным партнёром.
  UZ: Operatsiyalar litsenziyalangan hamkor tomonidan bajariladi.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5156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Цель пилота: проверить спрос, качество заявок и безопасное техническое взаимодействие до расширения услуг.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25312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1264D6"/>
                </a:solidFill>
                <a:latin typeface="Aptos"/>
              </a:rPr>
              <a:t>Pilot maqsadi: xizmatlarni kengaytirishdan oldin talab, ariza sifati va xavfsiz texnik hamkorlikni tekshirish.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Путь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Foydalanuvchi yo‘li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От поиска продукта до решения партнёра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Mahsulotni izlashdan hamkor qarorigacha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965960" cy="242316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64008" cy="242316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258568"/>
            <a:ext cx="16916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1. Найти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514600"/>
            <a:ext cx="16916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1. Topish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807208"/>
            <a:ext cx="1673351" cy="1673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02D3E"/>
                </a:solidFill>
                <a:latin typeface="Aptos"/>
              </a:rPr>
              <a:t>RU: Каталог банков и продуктов
UZ: Banklar va mahsulotlar katalogi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87168" y="3337560"/>
            <a:ext cx="30175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40" y="2148840"/>
            <a:ext cx="1965960" cy="242316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148840"/>
            <a:ext cx="64008" cy="242316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258568"/>
            <a:ext cx="16916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2. Сравнить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514600"/>
            <a:ext cx="16916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2. Solishtirish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807208"/>
            <a:ext cx="1673351" cy="1673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02D3E"/>
                </a:solidFill>
                <a:latin typeface="Aptos"/>
              </a:rPr>
              <a:t>RU: Ставка, срок, комиссия, требования
UZ: Foiz, muddat, komissiya va talablar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8888" y="3337560"/>
            <a:ext cx="30175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66360" y="2148840"/>
            <a:ext cx="1965960" cy="24231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2148840"/>
            <a:ext cx="64008" cy="242316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2258568"/>
            <a:ext cx="16916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3. Подтвердить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2514600"/>
            <a:ext cx="16916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3. Tasdiqlash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2807208"/>
            <a:ext cx="1673351" cy="1673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02D3E"/>
                </a:solidFill>
                <a:latin typeface="Aptos"/>
              </a:rPr>
              <a:t>RU: MyID и согласие пользователя
UZ: MyID va foydalanuvchi roziligi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3337560"/>
            <a:ext cx="301751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98079" y="2148840"/>
            <a:ext cx="1965960" cy="242316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2148840"/>
            <a:ext cx="64008" cy="242316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1" y="2258568"/>
            <a:ext cx="16916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4. Подать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2514600"/>
            <a:ext cx="16916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4. Yuborish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1" y="2807208"/>
            <a:ext cx="1673351" cy="1673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02D3E"/>
                </a:solidFill>
                <a:latin typeface="Aptos"/>
              </a:rPr>
              <a:t>RU: Заявка у выбранного партнёра
UZ: Tanlangan hamkorga ariza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82328" y="3337560"/>
            <a:ext cx="30175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829800" y="2148840"/>
            <a:ext cx="1965960" cy="242316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2148840"/>
            <a:ext cx="64008" cy="242316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94392" y="2258568"/>
            <a:ext cx="169163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5. Получить статус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4392" y="2514600"/>
            <a:ext cx="16916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5. Holatni olish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4392" y="2807208"/>
            <a:ext cx="1673351" cy="1673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202D3E"/>
                </a:solidFill>
                <a:latin typeface="Aptos"/>
              </a:rPr>
              <a:t>RU: Решение банка/партнёра
UZ: Bank/hamkor qarori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074920"/>
            <a:ext cx="1069848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12A4D"/>
                </a:solidFill>
                <a:latin typeface="Aptos"/>
              </a:rPr>
              <a:t>B1Pay не принимает решение по кредиту или страховке: окончательное решение остаётся у лицензированного поставщика.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44068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1264D6"/>
                </a:solidFill>
                <a:latin typeface="Aptos"/>
              </a:rPr>
              <a:t>B1Pay kredit yoki sug‘urta bo‘yicha qaror qabul qilmaydi: yakuniy qaror litsenziyalangan provayderda qoladi.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Продукты и границы запуска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Mahsulotlar va ishga tushirish chegaralari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Что доступно сейчас и что требует отдельного согласования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Hozir nima mavjud va nimaga alohida kelishuv kerak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74519"/>
          <a:ext cx="112014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983480"/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Направление / Yo‘nalish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Сейчас / Hozir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После согласования / Kelishuvdan keyin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Кредиты и микрозаймы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Kredit va mikroqarz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Сравнение, калькулятор, заявка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Solishtirish, kalkulyator, ariza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Решение и договор у банка/МФО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Qaror va shartnoma bank/MFOda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Карты и депозиты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Kartalar va depozitlar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Каталог условий и заявка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Shartlar katalogi va ariza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Открытие/обслуживание через партнёра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Hamkor orqali ochish/xizmat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Страхование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Sug‘urta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Сравнение полисов и заявка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Polislarni solishtirish va ariza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Полис и claims у страховщика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Polis va da’volar sug‘urtachida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Инвестиционный модуль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Investitsiya moduli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Каталог с раскрытием рисков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Xavflar ko‘rsatilgan katalog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Отдельная правовая квалификация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Alohida huquqiy baholash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P2P / переводы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P2P / o‘tkazmalar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Выключено до approval gate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Tasdiqlashgacha o‘chirilgan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Только через Octo/банк и разрешённую модель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Faqat Octo/bank va ruxsat etilgan model orqali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Бизнес-модель B1Pay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B1Pay biznes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B1Pay — технологическая платформа и канал привлечения клиентов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B1Pay — texnologik platforma va mijozlarni jalb qilish kanali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3246120" cy="23774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64008" cy="23774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938528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Пользователь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194560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Foydalanuvchi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487168"/>
            <a:ext cx="2953512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2D3E"/>
                </a:solidFill>
                <a:latin typeface="Aptos"/>
              </a:rPr>
              <a:t>RU: Выбирает продукт, сравнивает условия и даёт согласие на передачу заявки.
UZ: Mahsulotni tanlaydi, shartlarni solishtiradi va arizani yuborishga rozilik beradi.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1828800"/>
            <a:ext cx="3246120" cy="237744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828800"/>
            <a:ext cx="64008" cy="237744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938528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194560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B1Pay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487168"/>
            <a:ext cx="2953512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202D3E"/>
                </a:solidFill>
                <a:latin typeface="Aptos"/>
              </a:rPr>
              <a:t>RU: Показывает каталог, собирает заявку, подтверждает согласие и направляет клиента партнёру.
UZ: Katalogni ko‘rsatadi, arizani yig‘adi, rozilikni tasdiqlaydi va mijozni hamkorga yo‘naltiradi.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828800"/>
            <a:ext cx="3246120" cy="23774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828800"/>
            <a:ext cx="64008" cy="237744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938528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Банк / партнёр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194560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Bank / hamkor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487168"/>
            <a:ext cx="2953512" cy="1627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202D3E"/>
                </a:solidFill>
                <a:latin typeface="Aptos"/>
              </a:rPr>
              <a:t>RU: Проверяет клиента, принимает решение, заключает договор и предоставляет услугу.
UZ: Mijozni tekshiradi, qaror qabul qiladi, shartnoma tuzadi va xizmat ko‘rsatadi.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017520"/>
            <a:ext cx="50292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0" y="3017520"/>
            <a:ext cx="50292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709160"/>
            <a:ext cx="10287000" cy="96012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709160"/>
            <a:ext cx="64008" cy="96012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818888"/>
            <a:ext cx="10012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Главный принцип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5074920"/>
            <a:ext cx="10012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Asosiy tamoyil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394960"/>
            <a:ext cx="9976104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02D3E"/>
                </a:solidFill>
                <a:latin typeface="Aptos"/>
              </a:rPr>
              <a:t>• B1Pay не является банком, МФО, страховщиком или платёжной организацией без отдельного правового основания.
  UZ: B1Pay alohida huquqiy asos bo‘lmasa bank, MFO, sug‘urta yoki to‘lov tashkiloti hisoblanmaydi.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Модель доходов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Daromad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Прозрачная монетизация без скрытого влияния на рейтинг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Reytingga yashirin ta’sirsiz shaffof monetizatsiya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783080"/>
          <a:ext cx="11201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5486400"/>
                <a:gridCol w="379476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Источник / Manba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Как работает / Qanday ishlaydi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Условие / Shart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CPA / Referral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Плата за одобренную заявку или клиента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Tasdiqlangan ariza yoki mijoz uchun to‘lov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Только по договору с партнёром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Faqat hamkor shartnomasi asosida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Lead fee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Оплата за квалифицированную заявку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Sifatli ariza uchun to‘lov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Критерии качества заранее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Sifat mezonlari oldindan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Реклама / Reklama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Платное размещение предложения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Taklifni pullik joylashtirish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Явная маркировка sponsored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Sponsored belgisi ko‘rsatiladi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B2B / API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Кабинет и интеграция для партнёров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Hamkorlar uchun kabinet va integratsiya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SLA и техническая поддержка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SLA va texnik yordam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Premium services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Дополнительные аналитические сервисы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Qo‘shimcha analitik xizmatlar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Без обещаний гарантированного дохода</a:t>
                      </a:r>
                    </a:p>
                    <a:p>
                      <a:pPr algn="l"/>
                      <a:r>
                        <a:rPr sz="860" b="0">
                          <a:solidFill>
                            <a:srgbClr val="202D3E"/>
                          </a:solidFill>
                          <a:latin typeface="Aptos"/>
                        </a:rPr>
                        <a:t>Kafolatlangan daromad va’dasisiz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5440680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Воронка: просмотр → заявка → проверка личности → решение → операция → доход.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60720"/>
            <a:ext cx="104241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1264D6"/>
                </a:solidFill>
                <a:latin typeface="Aptos"/>
              </a:rPr>
              <a:t>Voronka: ko‘rish → ariza → shaxsni tekshirish → qaror → operatsiya → daromad.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Финансовый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Moliyaviy ssenariy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Базовые ориентиры для обсуждения, а не обещание результата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Muhokama uchun bazaviy ko‘rsatkichlar, natija va’dasi emas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28800"/>
          <a:ext cx="11201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5166360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</a:rPr>
                        <a:t>Показатель / Ko‘rsatkich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</a:rPr>
                        <a:t>Базовый сценарий / Bazaviy ssenariy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0" b="1">
                          <a:solidFill>
                            <a:srgbClr val="FFFFFF"/>
                          </a:solidFill>
                          <a:latin typeface="Aptos"/>
                        </a:rPr>
                        <a:t>Комментарий / Izoh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Стартовый капитал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Boshlang‘ich kapital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1 млрд сум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1 mlrd so‘m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Продукт, интеграции, команда и маркетинг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Mahsulot, integratsiya, jamoa va marketing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Выручка за 3 года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3 yillik daromad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20,4 млрд сум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20,4 mlrd so‘m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Сценарий требует проверки фактическими данными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Amaliy ma’lumotlar bilan tekshiriladi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EBITDA за 3 года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3 yillik EBITDA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5,5 млрд сум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5,5 mlrd so‘m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Зависит от конверсии и комиссии партнёров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Konversiya va hamkor komissiyasiga bog‘liq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Цель 3-го года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3-yil maqsadi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14 млрд сум выручки / 4 млрд EBITDA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14 mlrd daromad / 4 mlrd EBITDA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Целевой ориентир, не гарантия</a:t>
                      </a:r>
                    </a:p>
                    <a:p>
                      <a:pPr algn="l"/>
                      <a:r>
                        <a:rPr sz="880" b="0">
                          <a:solidFill>
                            <a:srgbClr val="202D3E"/>
                          </a:solidFill>
                          <a:latin typeface="Aptos"/>
                        </a:rPr>
                        <a:t>Maqsadli ko‘rsatkich, kafolat emas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14400" y="5138928"/>
            <a:ext cx="10287000" cy="1078992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5138928"/>
            <a:ext cx="64008" cy="1078992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5248656"/>
            <a:ext cx="10012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Важно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504688"/>
            <a:ext cx="10012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Muhim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824728"/>
            <a:ext cx="99761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202D3E"/>
                </a:solidFill>
                <a:latin typeface="Aptos"/>
              </a:rPr>
              <a:t>• Все цифры — предварительный базовый сценарий для финансового обсуждения; после пилота их нужно обновить фактическими KPI.
  UZ: Barcha raqamlar moliyaviy muhokama uchun dastlabki bazaviy ssenariy; pilotdan so‘ng haqiqiy KPI bilan yangilanadi.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Экономика одного привлечённого клиента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Bitta jalb qilingan mijoz iqtisodiyoti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828800"/>
          <a:ext cx="66751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91640"/>
                <a:gridCol w="3383280"/>
              </a:tblGrid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Метрика / Metrika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Ориентир / Ko‘rsatkich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Что означает / Ma’nosi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CAC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≈ 20 000 сум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Стоимость привлечения клиента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Mijozni jalb qilish qiymati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ARPU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≈ 60 000 сум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Средний доход на клиента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Bitta mijozdan o‘rtacha daromad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LTV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150 000–200 000 сум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Доход за весь срок взаимодействия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Butun munosabat davridagi daromad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LTV / CAC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7,5–10×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Запас для масштабирования модели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202D3E"/>
                          </a:solidFill>
                          <a:latin typeface="Aptos"/>
                        </a:rPr>
                        <a:t>Modelni kengaytirish uchun zaxira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818120" y="1828800"/>
            <a:ext cx="3611880" cy="33375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828800"/>
            <a:ext cx="64008" cy="333756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938528"/>
            <a:ext cx="3337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12A4D"/>
                </a:solidFill>
                <a:latin typeface="Aptos"/>
              </a:rPr>
              <a:t>Цель / Maqsad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2194560"/>
            <a:ext cx="3337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64D6"/>
                </a:solidFill>
                <a:latin typeface="Aptos"/>
              </a:rPr>
              <a:t>UZ: Maqsad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487168"/>
            <a:ext cx="3319272" cy="2587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2D3E"/>
                </a:solidFill>
                <a:latin typeface="Aptos"/>
              </a:rPr>
              <a:t>RU: Стоимость привлечения должна быть ниже дохода от клиента за весь срок. Показатели нужно подтвердить после запуска рекламных каналов и пилота.
UZ: Mijozni jalb qilish qiymati uning butun davrdagi daromadidan past bo‘lishi kerak. Ko‘rsatkichlar reklama kanallari va pilotdan keyin tasdiqlanadi.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Точка операционной безубыточности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Operatsion zararsizlik nuqtasi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Пример расчёта на базовом сценарии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Bazaviy ssenariy bo‘yicha hisob-kitob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154680" cy="20574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64008" cy="20574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2996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Постоянные расходы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28600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Doimiy xarajatlar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78608"/>
            <a:ext cx="2862072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202D3E"/>
                </a:solidFill>
                <a:latin typeface="Aptos"/>
              </a:rPr>
              <a:t>RU: 300 млн сум в месяц
UZ: Oyiga 300 mln so‘m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920240"/>
            <a:ext cx="3154680" cy="205740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920240"/>
            <a:ext cx="64008" cy="205740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02996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Доход с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28600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Bitta mijoz daromadi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578608"/>
            <a:ext cx="2862072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02D3E"/>
                </a:solidFill>
                <a:latin typeface="Aptos"/>
              </a:rPr>
              <a:t>RU: 60 000 сум contribution
UZ: 60 000 so‘m contribution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920240"/>
            <a:ext cx="3154680" cy="20574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920240"/>
            <a:ext cx="64008" cy="205740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202996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Break-even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28600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Zararsizlik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578608"/>
            <a:ext cx="2862072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2D3E"/>
                </a:solidFill>
                <a:latin typeface="Aptos"/>
              </a:rPr>
              <a:t>RU: 300 000 000 ÷ 60 000 = 5 000 подтверждённых клиентов в месяц
UZ: 300 000 000 ÷ 60 000 = oyiga 5 000 ta tasdiqlangan mijoz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13632" y="2944368"/>
            <a:ext cx="5486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08392" y="2944368"/>
            <a:ext cx="548639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Это ориентир, а не финансовая гарантия: фактическая точка зависит от расходов, комиссии и конверсии.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02352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1264D6"/>
                </a:solidFill>
                <a:latin typeface="Aptos"/>
              </a:rPr>
              <a:t>Bu yo‘nalish, moliyaviy kafolat emas: haqiqiy nuqta xarajatlar, komissiya va konversiyaga bog‘liq.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Ценность для Octo и банков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Octo va banklar uchun qiymat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Что получает партнёр от совместного пилота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Hamkor qo‘shma pilotdan nimani oladi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5349240" cy="361188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64008" cy="361188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7"/>
            <a:ext cx="5074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Для Octo / банка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48840"/>
            <a:ext cx="5074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Octo / bank uchun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68880"/>
            <a:ext cx="5038344" cy="2843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2D3E"/>
                </a:solidFill>
                <a:latin typeface="Aptos"/>
              </a:rPr>
              <a:t>• Новый цифровой канал привлечения клиентов.
  UZ: Mijozlarni jalb qilishning yangi raqamli kanali.
• Структурированные заявки и единая точка интеграции.
  UZ: Tuzilgan arizalar va yagona integratsiya nuqtasi.
• Контролируемый тест: лимиты, мониторинг и отчётность.
  UZ: Nazorat qilinadigan test: limitlar, monitoring va hisobot.
• Понятная воронка: просмотр → заявка → решение.
  UZ: Tushunarli voronka: ko‘rish → ariza → qaror.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5349240" cy="361188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64008" cy="361188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892807"/>
            <a:ext cx="5074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Что остаётся у B1Pay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48840"/>
            <a:ext cx="5074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B1Payda qoladiganlar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468880"/>
            <a:ext cx="5038344" cy="2843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2D3E"/>
                </a:solidFill>
                <a:latin typeface="Aptos"/>
              </a:rPr>
              <a:t>• UX, каталог, сравнение и первая линия поддержки.
  UZ: UX, katalog, solishtirish va birinchi darajali yordam.
• Согласие пользователя и маршрутизация заявки.
  UZ: Foydalanuvchi roziligi va arizani yo‘naltirish.
• Аналитика качества трафика и конверсии.
  UZ: Trafik sifati va konversiya tahlili.
• P2P включается только после отдельного approval gate.
  UZ: P2P faqat alohida tasdiqlash bosqichidan keyin yoqiladi.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Роли и ответственность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Rollar va mas’uliyat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Кто за что отвечает в партнёрской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Hamkorlik modelida kim nimaga javob beradi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783080"/>
          <a:ext cx="11201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6492240"/>
                <a:gridCol w="301752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Участник / Ishtirokchi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Ответственность RU / Mas’uliyat UZ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Результат / Natija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B1Pay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UX, каталог, заявки, consent, поддержка L1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UX, katalog, arizalar, rozilik, L1 yordam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Качественный клиентский путь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Sifatli mijoz yo‘li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Octo / банк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API, лимиты, расчёты, fraud и платёжный статус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API, limitlar, hisob-kitob, fraud va to‘lov holati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Безопасная операция в разрешённой роли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Ruxsat etilgan roldagi xavfsiz operatsiya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Банк / МФО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Решение по кредиту, договор и выдача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Kredit qarori, shartnoma va berish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Финансовый продукт клиенту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Mijozga moliyaviy mahsulot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Страховщик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Полис, андеррайтинг и claims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Polis, anderrayting va da’volar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Страховое покрытие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Sug‘urta qoplamasi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MyID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Подтверждение личности в согласованном контуре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Kelishilgan konturda shaxsni tasdiqlash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Достоверная KYC-сессия</a:t>
                      </a:r>
                    </a:p>
                    <a:p>
                      <a:pPr algn="l"/>
                      <a:r>
                        <a:rPr sz="810" b="0">
                          <a:solidFill>
                            <a:srgbClr val="202D3E"/>
                          </a:solidFill>
                          <a:latin typeface="Aptos"/>
                        </a:rPr>
                        <a:t>Ishonchli KYC sessiyasi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MyID + QR: сайт и телефон работают вместе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MyID + QR: sayt va telefon birga ishlaydi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Web показывает QR, подтверждение выполняется в приложении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Sayt QR ko‘rsatadi, tasdiqlash ilovada bajariladi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3154680" cy="324612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828800"/>
            <a:ext cx="64008" cy="324612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93852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Сайт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9456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Sayt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87168"/>
            <a:ext cx="286207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2D3E"/>
                </a:solidFill>
                <a:latin typeface="Aptos"/>
              </a:rPr>
              <a:t>RU: 1. Создаёт короткую сессию
2. Показывает QR-код
3. Ждёт подтверждение
UZ: 1. Qisqa sessiya yaratadi
2. QR kodni ko‘rsatadi
3. Tasdiqlashni kutadi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828800"/>
            <a:ext cx="3154680" cy="324612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828800"/>
            <a:ext cx="64008" cy="324612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93852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Приложение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19456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Ilova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487168"/>
            <a:ext cx="286207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2D3E"/>
                </a:solidFill>
                <a:latin typeface="Aptos"/>
              </a:rPr>
              <a:t>RU: 1. Вход через MyID
2. Сканирование QR
3. Подтверждение действия
UZ: 1. MyID orqali kirish
2. QR ni skanerlash
3. Harakatni tasdiqlash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828800"/>
            <a:ext cx="3154680" cy="32461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1828800"/>
            <a:ext cx="64008" cy="32461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1938528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Сервер B1Pay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194560"/>
            <a:ext cx="2880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B1Pay serveri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2792" y="2487168"/>
            <a:ext cx="286207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202D3E"/>
                </a:solidFill>
                <a:latin typeface="Aptos"/>
              </a:rPr>
              <a:t>RU: TTL, nonce, защита от повторного использования, журнал событий и минимальный набор данных партнёру.
UZ: TTL, nonce, qayta ishlatishdan himoya, voqealar jurnali va hamkorga minimal ma’lumot.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94760" y="3429000"/>
            <a:ext cx="68580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26679" y="3429000"/>
            <a:ext cx="685801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550468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12A4D"/>
                </a:solidFill>
                <a:latin typeface="Aptos"/>
              </a:rPr>
              <a:t>Биометрия и фотографии документов не должны попадать в обычные логи B1Pay.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24728"/>
            <a:ext cx="10698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1264D6"/>
                </a:solidFill>
                <a:latin typeface="Aptos"/>
              </a:rPr>
              <a:t>Biometriya va hujjat fotosuratlari B1Payning oddiy loglariga tushmasligi kerak.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Техническая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Texnik arxitektura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Единый контур для сайта, Android и партнёрских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Sayt, Android va hamkor API’lari uchun yagona kontur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2331720" cy="96012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691640"/>
            <a:ext cx="64008" cy="96012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0136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Сайт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0574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Sayt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350008"/>
            <a:ext cx="20391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202D3E"/>
                </a:solidFill>
                <a:latin typeface="Aptos"/>
              </a:rPr>
              <a:t>RU: Каталог · QR · заявки
UZ: Katalog · QR · arizalar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1691640"/>
            <a:ext cx="2331720" cy="96012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1691640"/>
            <a:ext cx="64008" cy="96012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80136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0574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Android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2350008"/>
            <a:ext cx="20391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202D3E"/>
                </a:solidFill>
                <a:latin typeface="Aptos"/>
              </a:rPr>
              <a:t>RU: MyID · QR · статусы
UZ: MyID · QR · holatlar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1691640"/>
            <a:ext cx="2331720" cy="9601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1691640"/>
            <a:ext cx="64008" cy="9601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9592" y="180136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Админ-панель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592" y="205740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Admin panel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2350008"/>
            <a:ext cx="20391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202D3E"/>
                </a:solidFill>
                <a:latin typeface="Aptos"/>
              </a:rPr>
              <a:t>RU: Офферы · заявки · аудит
UZ: Takliflar · arizalar ·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1691640"/>
            <a:ext cx="3246120" cy="96012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1691640"/>
            <a:ext cx="64008" cy="96012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1801368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Партнёрский кабинет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2057400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Hamkor kabineti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350008"/>
            <a:ext cx="295351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202D3E"/>
                </a:solidFill>
                <a:latin typeface="Aptos"/>
              </a:rPr>
              <a:t>RU: Лиды · SLA · отчёты
UZ: Lidlar · SLA · hisobotlar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3154680"/>
            <a:ext cx="10104120" cy="1234440"/>
          </a:xfrm>
          <a:prstGeom prst="roundRect">
            <a:avLst/>
          </a:prstGeom>
          <a:solidFill>
            <a:srgbClr val="EBF2F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" y="3154680"/>
            <a:ext cx="64008" cy="12344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3264408"/>
            <a:ext cx="9829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12A4D"/>
                </a:solidFill>
                <a:latin typeface="Aptos"/>
              </a:rPr>
              <a:t>B1Pay API и шлюз интеграций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3520440"/>
            <a:ext cx="9829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64D6"/>
                </a:solidFill>
                <a:latin typeface="Aptos"/>
              </a:rPr>
              <a:t>UZ: B1Pay API va integratsiya shlyuzi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3813048"/>
            <a:ext cx="98115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2D3E"/>
                </a:solidFill>
                <a:latin typeface="Aptos"/>
              </a:rPr>
              <a:t>RU: Сессии, каталог, согласия, заявки, статусы, webhooks, сверка, риск и аудит.
UZ: Sessiyalar, katalog, roziliklar, arizalar, holatlar, webhooks, solishtirish, xavf va audit.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029200"/>
            <a:ext cx="2331720" cy="86868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5029200"/>
            <a:ext cx="64008" cy="86868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513892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MyID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39496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MyID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5687568"/>
            <a:ext cx="2039112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02D3E"/>
                </a:solidFill>
                <a:latin typeface="Aptos"/>
              </a:rPr>
              <a:t>RU: KYC status
UZ: KYC holati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4680" y="5029200"/>
            <a:ext cx="2331720" cy="86868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54680" y="5029200"/>
            <a:ext cx="64008" cy="86868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9272" y="513892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Octo / банк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9272" y="539496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Octo / bank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9272" y="5687568"/>
            <a:ext cx="2039112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202D3E"/>
                </a:solidFill>
                <a:latin typeface="Aptos"/>
              </a:rPr>
              <a:t>RU: P2P · payout · settlement
UZ: P2P · payout · settlement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5029200"/>
            <a:ext cx="2331720" cy="86868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15000" y="5029200"/>
            <a:ext cx="64008" cy="86868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9592" y="5138928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Банк / МФО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9592" y="5394960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Bank / MFO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79592" y="5687568"/>
            <a:ext cx="2039112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02D3E"/>
                </a:solidFill>
                <a:latin typeface="Aptos"/>
              </a:rPr>
              <a:t>RU: Кредитное решение
UZ: Kredit qarori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5029200"/>
            <a:ext cx="3246120" cy="86868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5320" y="5029200"/>
            <a:ext cx="64008" cy="86868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2" y="5138928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Страховщик / инвестиции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39912" y="5394960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Sug‘urtachi / investitsiya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9912" y="5687568"/>
            <a:ext cx="2953512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202D3E"/>
                </a:solidFill>
                <a:latin typeface="Aptos"/>
              </a:rPr>
              <a:t>RU: Отдельный правовой контур
UZ: Alohida huquqiy kontur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5648" y="2670048"/>
            <a:ext cx="0" cy="45720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15968" y="2670048"/>
            <a:ext cx="0" cy="45720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76288" y="2670048"/>
            <a:ext cx="0" cy="45720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893808" y="2670048"/>
            <a:ext cx="0" cy="45720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55648" y="4407408"/>
            <a:ext cx="0" cy="59436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315968" y="4407408"/>
            <a:ext cx="0" cy="59436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76288" y="4407408"/>
            <a:ext cx="0" cy="59436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93808" y="4407408"/>
            <a:ext cx="0" cy="594360"/>
          </a:xfrm>
          <a:prstGeom prst="line">
            <a:avLst/>
          </a:prstGeom>
          <a:ln w="1778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P2P и переводы: только после согласования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P2P va o‘tkazmalar: faqat kelishuvdan keyin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Merchant/acquiring и P2P — разные рабочие направления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Merchant/acquiring va P2P — turli ish yo‘nalishlari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57400"/>
            <a:ext cx="2240280" cy="256032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64008" cy="256032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1671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1. Право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423160"/>
            <a:ext cx="1965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1. Huquq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715768"/>
            <a:ext cx="1947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02D3E"/>
                </a:solidFill>
                <a:latin typeface="Aptos"/>
              </a:rPr>
              <a:t>RU: Роль B1Pay, договор и лицензированный контур
UZ: B1Pay roli, shartnoma va litsenziyalangan kontur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44368" y="3337560"/>
            <a:ext cx="57607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2057400"/>
            <a:ext cx="2240280" cy="256032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2057400"/>
            <a:ext cx="64008" cy="256032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1671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2. Техника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423160"/>
            <a:ext cx="1965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2. Texnika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2715768"/>
            <a:ext cx="1947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02D3E"/>
                </a:solidFill>
                <a:latin typeface="Aptos"/>
              </a:rPr>
              <a:t>RU: Sandbox, подписи, webhooks, лимиты
UZ: Sandbox, imzo, webhooks, limitlar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24728" y="3337560"/>
            <a:ext cx="57607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46520" y="2057400"/>
            <a:ext cx="2240280" cy="25603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2057400"/>
            <a:ext cx="64008" cy="25603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1671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3. Контроль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423160"/>
            <a:ext cx="1965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3. Nazorat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2715768"/>
            <a:ext cx="1947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02D3E"/>
                </a:solidFill>
                <a:latin typeface="Aptos"/>
              </a:rPr>
              <a:t>RU: AML/KYC, fraud, reconciliation, support
UZ: AML/KYC, fraud, reconciliation, yordam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05088" y="3337560"/>
            <a:ext cx="576071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26880" y="2057400"/>
            <a:ext cx="2240280" cy="256032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6880" y="2057400"/>
            <a:ext cx="64008" cy="256032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1671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12A4D"/>
                </a:solidFill>
                <a:latin typeface="Aptos"/>
              </a:rPr>
              <a:t>4. Пилот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2423160"/>
            <a:ext cx="1965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4.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2715768"/>
            <a:ext cx="1947672" cy="1810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202D3E"/>
                </a:solidFill>
                <a:latin typeface="Aptos"/>
              </a:rPr>
              <a:t>RU: Ограниченная группа и feature flag
UZ: Cheklangan guruh va feature flag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138928"/>
            <a:ext cx="10698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C25548"/>
                </a:solidFill>
                <a:latin typeface="Aptos"/>
              </a:rPr>
              <a:t>До прохождения всех этапов P2P остаётся выключенным и не рекламируется как доступная услуга.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04688"/>
            <a:ext cx="106984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C25548"/>
                </a:solidFill>
                <a:latin typeface="Aptos"/>
              </a:rPr>
              <a:t>Barcha bosqichlar o‘tilmaguncha P2P o‘chiriladi va mavjud xizmat sifatida reklama qilinmaydi.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Безопасность и защита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Xavfsizlik va mijozni himoya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Обязательные условия до коммерческого запуска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Tijoriy ishga tushirishdan oldingi majburiy shartlar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3520440" cy="3749039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64008" cy="3749039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7"/>
            <a:ext cx="3246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KYC / 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48840"/>
            <a:ext cx="3246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KYC / 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68880"/>
            <a:ext cx="3209544" cy="2980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2D3E"/>
                </a:solidFill>
                <a:latin typeface="Aptos"/>
              </a:rPr>
              <a:t>• Ответственный партнёр принимает регулируемое решение.
  UZ: Mas’ul hamkor tartibga solinadigan qarorni qabul qiladi.
• Письменное распределение ролей и эскалаций.
  UZ: Rollar va eskalatsiyalar yozma belgilanadi.
• Журнал согласий и доказательств.
  UZ: Roziliklar va dalillar jurnali.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83080"/>
            <a:ext cx="3520440" cy="3749039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83080"/>
            <a:ext cx="64008" cy="3749039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892807"/>
            <a:ext cx="3246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Техническая защита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148840"/>
            <a:ext cx="3246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Texnik himoya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468880"/>
            <a:ext cx="3209544" cy="2980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2D3E"/>
                </a:solidFill>
                <a:latin typeface="Aptos"/>
              </a:rPr>
              <a:t>• Секреты только на сервере; подпись запросов.
  UZ: Sirlar faqat serverda; so‘rovlarni imzolash.
• Не хранить raw PAN, CVV и биометрию в логах.
  UZ: Raw PAN, CVV va biometrikani loglarda saqlamaslik.
• Роли, MFA, мониторинг и план инцидентов.
  UZ: Rollar, MFA, monitoring va hodisa rejasi.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783080"/>
            <a:ext cx="3474720" cy="3749039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783080"/>
            <a:ext cx="64008" cy="3749039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892807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Защита потребителя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148840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Iste’molchini himoya qilish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2468880"/>
            <a:ext cx="3163824" cy="2980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2D3E"/>
                </a:solidFill>
                <a:latin typeface="Aptos"/>
              </a:rPr>
              <a:t>• Источник и дата обновления условий.
  UZ: Manba va shartlarning yangilanish sanasi.
• Понятные комиссии, риски и жалобы.
  UZ: Tushunarli komissiyalar, xavflar va shikoyatlar.
• Нет обещаний гарантированного дохода.
  UZ: Kafolatlangan daromad va’dasi yo‘q.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Дорожная карта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Yo‘l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Порядок запуска от legal discovery до расширения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Huquqiy kelishuvdan kengaytirishgacha ishga tushirish tartibi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2487168" cy="260604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64008" cy="260604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29968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70" b="1" i="0">
                <a:solidFill>
                  <a:srgbClr val="112A4D"/>
                </a:solidFill>
                <a:latin typeface="Aptos"/>
              </a:rPr>
              <a:t>0. Право и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86000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Huquq va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78608"/>
            <a:ext cx="2194560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2D3E"/>
                </a:solidFill>
                <a:latin typeface="Aptos"/>
              </a:rPr>
              <a:t>RU: Роль, договор, RACI, sandbox
UZ: Rol, shartnoma, RACI, sandbox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63240" y="3200400"/>
            <a:ext cx="3200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38144" y="1920240"/>
            <a:ext cx="2487168" cy="26060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1920240"/>
            <a:ext cx="64008" cy="26060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029968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70" b="1" i="0">
                <a:solidFill>
                  <a:srgbClr val="112A4D"/>
                </a:solidFill>
                <a:latin typeface="Aptos"/>
              </a:rPr>
              <a:t>1. Каталог и заявки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286000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Katalog va arizalar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578608"/>
            <a:ext cx="2194560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2D3E"/>
                </a:solidFill>
                <a:latin typeface="Aptos"/>
              </a:rPr>
              <a:t>RU: Офферы, consent, MyID/QR
UZ: Takliflar, rozilik, MyID/QR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2744" y="3200400"/>
            <a:ext cx="3200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27648" y="1920240"/>
            <a:ext cx="2487168" cy="260604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7648" y="1920240"/>
            <a:ext cx="64008" cy="260604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029968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70" b="1" i="0">
                <a:solidFill>
                  <a:srgbClr val="112A4D"/>
                </a:solidFill>
                <a:latin typeface="Aptos"/>
              </a:rPr>
              <a:t>2. Ограниченный пилот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86000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Cheklangan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78608"/>
            <a:ext cx="2194560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2D3E"/>
                </a:solidFill>
                <a:latin typeface="Aptos"/>
              </a:rPr>
              <a:t>RU: 1–2 партнёра, лимиты, KPI
UZ: 1–2 hamkor, limitlar, KPI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42248" y="3200400"/>
            <a:ext cx="3200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17152" y="1920240"/>
            <a:ext cx="2487168" cy="26060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17152" y="1920240"/>
            <a:ext cx="64008" cy="260604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81744" y="2029968"/>
            <a:ext cx="22128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70" b="1" i="0">
                <a:solidFill>
                  <a:srgbClr val="112A4D"/>
                </a:solidFill>
                <a:latin typeface="Aptos"/>
              </a:rPr>
              <a:t>3. Расширение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2286000"/>
            <a:ext cx="22128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Kengaytirish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2578608"/>
            <a:ext cx="2194560" cy="1856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2D3E"/>
                </a:solidFill>
                <a:latin typeface="Aptos"/>
              </a:rPr>
              <a:t>RU: P2P/payout после approval
UZ: Tasdiqlashdan keyin P2P/payout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C25548"/>
                </a:solidFill>
                <a:latin typeface="Aptos"/>
              </a:rPr>
              <a:t>P2P включается только после юридического, договорного и технического approval gate.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86400"/>
            <a:ext cx="105156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C25548"/>
                </a:solidFill>
                <a:latin typeface="Aptos"/>
              </a:rPr>
              <a:t>P2P faqat huquqiy, shartnomaviy va texnik tasdiqlash bosqichidan keyin yoqiladi.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Что нужно согласовать с Octo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Octo bilan nimani kelishish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Конкретные решения для начала пилота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Pilotni boshlash uchun aniq qarorlar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5349240" cy="384048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64008" cy="384048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7"/>
            <a:ext cx="5074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Коммерция и право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48840"/>
            <a:ext cx="5074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Tijorat va huquq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468880"/>
            <a:ext cx="5038344" cy="3072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2D3E"/>
                </a:solidFill>
                <a:latin typeface="Aptos"/>
              </a:rPr>
              <a:t>• Допустимая роль B1Pay и список услуг.
  UZ: B1Payning ruxsat etilgan roli va xizmatlar ro‘yxati.
• Кто заключает договор с пользователем.
  UZ: Foydalanuvchi bilan shartnomani kim tuzadi.
• Комиссии, расчёты, возвраты и споры.
  UZ: Komissiyalar, hisob-kitob, qaytarish va nizolar.
• AML/KYC и ответственность за отчётность.
  UZ: AML/KYC va hisobot uchun mas’uliyat.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5349240" cy="384048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64008" cy="384048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892807"/>
            <a:ext cx="5074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Техника и пилот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148840"/>
            <a:ext cx="5074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Texnika va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468880"/>
            <a:ext cx="5038344" cy="3072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2D3E"/>
                </a:solidFill>
                <a:latin typeface="Aptos"/>
              </a:rPr>
              <a:t>• Тестовая среда, API, подписи и webhooks.
  UZ: Test muhiti, API, imzolar va webhooks.
• Лимиты, idempotency, сверка и тестовые данные.
  UZ: Limitlar, idempotency, solishtirish va test ma’lumotlari.
• Security requirements и поддержка инцидентов.
  UZ: Xavfsizlik talablari va hodisalarni qo‘llab-quvvatlash.
• Группа пилота, срок, KPI и go/no-go.
  UZ: Pilot guruhi, muddat, KPI va go/no-go.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Показатели успеха пилота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Pilot muvaffaqiyati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Пилот оценивается не только по числу операций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Pilot faqat operatsiyalar soni bilan baholanmaydi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18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74519"/>
          <a:ext cx="11201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623560"/>
                <a:gridCol w="352044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Направление / Yo‘nalish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Метрики RU / UZ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Зачем / Nima uchun</a:t>
                      </a:r>
                    </a:p>
                  </a:txBody>
                  <a:tcPr marL="54864" marR="54864" marT="36576" marB="36576" anchor="ctr">
                    <a:solidFill>
                      <a:srgbClr val="112A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Воронка / Voronka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Просмотр → заявка → KYC → решение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Ko‘rish → ariza → KYC → qaror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Понимать конверсию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Konversiyani tushunish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Надёжность / Ishonchlilik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Success rate, pending time, webhook delivery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Success rate, kutish va webhook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Контролировать сервис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Xizmatni nazorat qilish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Риск / Xavf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Fraud, AML cases, complaints, disputes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Fraud, AML, shikoyatlar, nizolar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Защищать клиента и партнёра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Mijoz va hamkorni himoya qilish</a:t>
                      </a:r>
                    </a:p>
                  </a:txBody>
                  <a:tcPr marL="54864" marR="54864" marT="36576" marB="36576" anchor="ctr">
                    <a:solidFill>
                      <a:srgbClr val="E9F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Экономика / Iqtisodiyot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CAC, CPA/CPL, revenue per lead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CAC, CPA/CPL, bitta lid daromadi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Понимать окупаемость</a:t>
                      </a:r>
                    </a:p>
                    <a:p>
                      <a:pPr algn="l"/>
                      <a:r>
                        <a:rPr sz="869" b="0">
                          <a:solidFill>
                            <a:srgbClr val="202D3E"/>
                          </a:solidFill>
                          <a:latin typeface="Aptos"/>
                        </a:rPr>
                        <a:t>Qaytish muddatini tushunish</a:t>
                      </a:r>
                    </a:p>
                  </a:txBody>
                  <a:tcPr marL="54864" marR="54864" marT="36576" marB="36576" anchor="ctr"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5596128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12A4D"/>
                </a:solidFill>
                <a:latin typeface="Aptos"/>
              </a:rPr>
              <a:t>Главная метрика: клиент получает прозрачный путь, партнёр — качественную заявку в контролируемом контуре.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10515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1264D6"/>
                </a:solidFill>
                <a:latin typeface="Aptos"/>
              </a:rPr>
              <a:t>Asosiy ko‘rsatkich: mijoz shaffof yo‘lni, hamkor esa nazorat qilinadigan konturda sifatli arizani oladi.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Инвестиционная возможность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Investitsiya imkoniyati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Для масштабирования после подтверждения product-market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Product-market fit tasdiqlangandan keyin kengaytirish uchun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3337560" cy="25146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28800"/>
            <a:ext cx="64008" cy="25146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193852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На что нужны средства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194560"/>
            <a:ext cx="3063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Mablag‘ nimaga kerak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487168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2D3E"/>
                </a:solidFill>
                <a:latin typeface="Aptos"/>
              </a:rPr>
              <a:t>RU: Команда, интеграции с 3–5 банками, каталог, AI-подбор, маркетинг и контроль качества.
UZ: Jamoa, 3–5 bank bilan integratsiya, katalog, AI-moslashtirish, marketing va sifat nazorati.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828800"/>
            <a:ext cx="3337560" cy="25146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828800"/>
            <a:ext cx="64008" cy="251460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193852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Что проверяем сначала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194560"/>
            <a:ext cx="3063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Avval nimani tekshiramiz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2487168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2D3E"/>
                </a:solidFill>
                <a:latin typeface="Aptos"/>
              </a:rPr>
              <a:t>RU: Спрос, конверсия, стоимость заявки, качество партнёрских решений и повторное использование.
UZ: Talab, konversiya, ariza qiymati, hamkor qarorlari sifati va qayta foydalanish.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1828800"/>
            <a:ext cx="3337560" cy="251460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828800"/>
            <a:ext cx="64008" cy="251460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193852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Ограничение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194560"/>
            <a:ext cx="3063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264D6"/>
                </a:solidFill>
                <a:latin typeface="Aptos"/>
              </a:rPr>
              <a:t>UZ: Cheklov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2487168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2D3E"/>
                </a:solidFill>
                <a:latin typeface="Aptos"/>
              </a:rPr>
              <a:t>RU: Финансовые показатели являются базовым сценарием. Инвестиция не означает гарантированный доход.
UZ: Moliyaviy ko‘rsatkichlar bazaviy ssenariy. Investitsiya kafolatlangan daromadni anglatmaydi.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105156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12A4D"/>
                </a:solidFill>
                <a:latin typeface="Aptos"/>
              </a:rPr>
              <a:t>B1Pay делает выбор финансового продукта проще, быстрее и прозрачнее.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1324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1264D6"/>
                </a:solidFill>
                <a:latin typeface="Aptos"/>
              </a:rPr>
              <a:t>B1Pay moliyaviy mahsulot tanlashni oddiy, tez va shaffof qiladi.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93776"/>
            <a:ext cx="11109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12A4D"/>
                </a:solidFill>
                <a:latin typeface="Aptos"/>
              </a:rPr>
              <a:t>Следующий шаг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41832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264D6"/>
                </a:solidFill>
                <a:latin typeface="Aptos"/>
              </a:rPr>
              <a:t>UZ: Keyingi qadam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728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Совместно определить законный и безопасный периметр запуска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108813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66C87"/>
                </a:solidFill>
                <a:latin typeface="Aptos"/>
              </a:rPr>
              <a:t>UZ: Ishga tushirishning qonuniy va xavfsiz doirasini birgalikda belgilash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565392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Русский / O‘zbekcha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10424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12A4D"/>
                </a:solidFill>
                <a:latin typeface="Aptos"/>
              </a:rPr>
              <a:t>Предлагаем провести рабочую встречу и подтвердить: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1264D6"/>
                </a:solidFill>
                <a:latin typeface="Aptos"/>
              </a:rPr>
              <a:t>Ishchi uchrashuv o‘tkazib, quyidagilarni tasdiqlashni taklif qilamiz: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2633472"/>
            <a:ext cx="8641080" cy="2212848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080" y="2633472"/>
            <a:ext cx="64008" cy="2212848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7672" y="2743200"/>
            <a:ext cx="836675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Решения для старта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47672" y="2999232"/>
            <a:ext cx="836675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UZ: Boshlash uchun qarorlar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3319272"/>
            <a:ext cx="8330183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2D3E"/>
                </a:solidFill>
                <a:latin typeface="Aptos"/>
              </a:rPr>
              <a:t>• роль B1Pay и список разрешённых услуг
  UZ: B1Pay roli va ruxsat etilgan xizmatlar ro‘yxati
• тестовое подключение и требования безопасности
  UZ: test ulanishi va xavfsizlik talablari
• пилотный продукт, группа, лимиты и KPI
  UZ: pilot mahsulot, guruh, limitlar va KPI
• условия, при которых можно включить переводы
  UZ: o‘tkazmalarni yoqish shartlari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64D6"/>
                </a:solidFill>
                <a:latin typeface="Aptos"/>
              </a:rPr>
              <a:t>Спасибо. Контакт для рабочей встречи: команда B1Pay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66C87"/>
                </a:solidFill>
                <a:latin typeface="Aptos"/>
              </a:rPr>
              <a:t>Rahmat. Ishchi uchrashuv uchun aloqa: B1Pay jamoasi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B1Pay × Octo — двуязычная бизнес-модель и предложение о партнёрстве</dc:title>
  <dc:subject>Бизнес-модель, финансы, пилот, роли и интеграция / Biznes modeli, moliya, pilot, rollar va integratsiya</dc:subject>
  <dc:creator>B1Pay</dc:creator>
  <cp:keywords>B1Pay, Octo, Uzbekistan, B-PAY, MyID, P2P, fintech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