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389888"/>
            <a:ext cx="1024128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ptos"/>
              </a:rPr>
              <a:t>Сравнить → выбрать → подтвердить → получить сервис через лицензированного партнёра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2514600"/>
            <a:ext cx="9692640" cy="6949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 i="0">
                <a:solidFill>
                  <a:srgbClr val="D6E5F6"/>
                </a:solidFill>
                <a:latin typeface="Aptos"/>
              </a:rPr>
              <a:t>Каталог банков и финансовых продуктов сейчас. P2P и другие регулируемые операции — после юридического и технического согласования.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3977639"/>
            <a:ext cx="64008" cy="11430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B1Pay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UX, каталог, заявки, MyID/QR-сессии, аналитика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8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53128" y="3977639"/>
            <a:ext cx="64008" cy="11430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Octo / банк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Платёжный контур и регулируемая операция в согласованной роли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3977639"/>
            <a:ext cx="3291840" cy="1143000"/>
          </a:xfrm>
          <a:prstGeom prst="roundRect">
            <a:avLst/>
          </a:prstGeom>
          <a:solidFill>
            <a:srgbClr val="1F3E68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11312" y="3977639"/>
            <a:ext cx="64008" cy="11430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4114800"/>
            <a:ext cx="2999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"/>
              </a:rPr>
              <a:t>Пользователь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4480559"/>
            <a:ext cx="2999232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D3E3F5"/>
                </a:solidFill>
                <a:latin typeface="Aptos"/>
              </a:rPr>
              <a:t>Единый интерфейс, прозрачные условия и статус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080760"/>
            <a:ext cx="9601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0C6DE"/>
                </a:solidFill>
                <a:latin typeface="Aptos"/>
              </a:rPr>
              <a:t>Концепция для переговоров • 10 сентября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01 | РЕЗЮМЕ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Что предлагаем Octo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Начать с управляемого пилота и расширять периметр только после approval gates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5394960" cy="35661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8580" cy="35661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5120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Пилот без лишнего риска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30552"/>
            <a:ext cx="5093208" cy="2971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Каталог и заявки на кредиты, микрозаймы, карты и страхование.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MyID в мобильном приложении; web показывает QR и не принимает биометрию.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1–2 продукта, ограниченная группа пользователей, sandbox, мониторинг и reconciliation.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P2P выключен feature flag до юридического, договорного и технического подтверждения.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5394960" cy="35661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45920"/>
            <a:ext cx="68580" cy="35661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783080"/>
            <a:ext cx="5120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Что хотим согласовать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130552"/>
            <a:ext cx="5093208" cy="29718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Разделить merchant/acquiring/e-commerce API и отдельный P2P/payment-service workstream.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Допустимую роль B1Pay и перечень разрешённых Octo-сценариев.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API, подписи, webhooks, лимиты, комиссии, settlement и dispute flow.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KYC/AML RACI: кто принимает решение, хранит доказательства и отвечает за отчётность.</a:t>
            </a:r>
          </a:p>
          <a:p>
            <a:pPr>
              <a:spcAft>
                <a:spcPts val="500"/>
              </a:spcAft>
              <a:defRPr sz="1200">
                <a:solidFill>
                  <a:srgbClr val="202D3E"/>
                </a:solidFill>
                <a:latin typeface="Aptos"/>
              </a:defRPr>
            </a:pPr>
            <a:r>
              <a:t>План go/no-go для P2P/payout после успешного контролируемого пилота — без обещания лицензии.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1069848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Принцип: B1Pay не заявляет себя банком или платёжной организацией; регулируемая операция выполняется лицензированным партнёром в его контуре.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02 | ТЕКУЩИЙ ЗАДЕЛ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От чего отталкиваемся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В репозитории уже есть технический каркас; коммерческий и регулируемый контур нужно согласовать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429000" cy="132588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4008" cy="132588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31363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Web-портал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313639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Банки, кредиты, калькулятор, карточки продуктов, SEO-страницы, QR-вход.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1600200"/>
            <a:ext cx="3429000" cy="132588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0520" y="1600200"/>
            <a:ext cx="64008" cy="132588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1737360"/>
            <a:ext cx="31363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Flutter Android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103120"/>
            <a:ext cx="313639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Профиль, MyID-абстракция, QR confirmation, инвестиционный UI, статусы.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26679" y="1600200"/>
            <a:ext cx="3566160" cy="132588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26679" y="1600200"/>
            <a:ext cx="64008" cy="132588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91271" y="1737360"/>
            <a:ext cx="3273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Django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1" y="2103120"/>
            <a:ext cx="327355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Общие пользователи, банки, заявки, инвестиции и интеграционные endpoints.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23360" y="2258568"/>
            <a:ext cx="13716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89520" y="2258568"/>
            <a:ext cx="137159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94360" y="3429000"/>
            <a:ext cx="5303520" cy="201168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3429000"/>
            <a:ext cx="68580" cy="201168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3566160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Уже предусмотрено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3913632"/>
            <a:ext cx="5001768" cy="1417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Поля/адаптеры для Octo: base URL, merchant/shop ID, secret и P2P endpoint.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P2P-флаг по умолчанию false — безопасная база для пилота.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MyID session/status и QR-вход с подтверждением на телефоне.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429000"/>
            <a:ext cx="5166360" cy="201168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3429000"/>
            <a:ext cx="68580" cy="201168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3566160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Что нельзя считать готовым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3913632"/>
            <a:ext cx="4864608" cy="141732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Наличие лицензии, production credentials или разрешения на P2P.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Готовность банковских тарифов и предложений без partner approval.</a:t>
            </a:r>
          </a:p>
          <a:p>
            <a:pPr>
              <a:spcAft>
                <a:spcPts val="500"/>
              </a:spcAft>
              <a:defRPr sz="1130">
                <a:solidFill>
                  <a:srgbClr val="202D3E"/>
                </a:solidFill>
                <a:latin typeface="Aptos"/>
              </a:defRPr>
            </a:pPr>
            <a:r>
              <a:t>Юридическую квалификацию инвестиционного модуля.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03 | ПРОДУКТ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Ценность платформы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B1Pay сокращает путь от поиска финансового продукта до подтверждённой заявки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65960"/>
            <a:ext cx="2240280" cy="233172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65960"/>
            <a:ext cx="64008" cy="233172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1  Найти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Каталог с фильтрами, источником и датой обновления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34640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520440" y="1965960"/>
            <a:ext cx="2240280" cy="23317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20440" y="1965960"/>
            <a:ext cx="64008" cy="23317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85032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2  Понять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Калькулятор, комиссии, риски и требования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88152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73952" y="1965960"/>
            <a:ext cx="2240280" cy="233172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73952" y="1965960"/>
            <a:ext cx="64008" cy="233172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8544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3  Подтвердить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38544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MyID на телефоне, QR для web, consent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41664" y="3127248"/>
            <a:ext cx="62179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427464" y="1965960"/>
            <a:ext cx="2240280" cy="23317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7464" y="1965960"/>
            <a:ext cx="64008" cy="23317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92056" y="2103120"/>
            <a:ext cx="19476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12A4D"/>
                </a:solidFill>
                <a:latin typeface="Aptos"/>
              </a:rPr>
              <a:t>4  Получить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2468880"/>
            <a:ext cx="1947672" cy="1737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Статус от банка/МФО/Octo, договор у партнёра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00600"/>
            <a:ext cx="107899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112A4D"/>
                </a:solidFill>
                <a:latin typeface="Aptos"/>
              </a:rPr>
              <a:t>Прозрачность: каждая карточка показывает, кто предоставляет продукт, кто принимает решение, где находится договор и как обновлены условия.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04 |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Роли и границы ответственности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Партнёрская модель делает owner-of-record и клиентский договор понятными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154680" cy="16002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4008" cy="16002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B1Pay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UX, каталог, routing, consent, support L1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87368" y="1645920"/>
            <a:ext cx="3154680" cy="16002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87368" y="1645920"/>
            <a:ext cx="64008" cy="16002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Octo / банк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59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API, settlement, лимиты, fraud, платежный статус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0375" y="1645920"/>
            <a:ext cx="3154680" cy="16002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0375" y="1645920"/>
            <a:ext cx="64008" cy="16002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178308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Банк / МФО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44967" y="2148840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Кредитное решение, договор, выдача и взыскание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749039"/>
            <a:ext cx="3154680" cy="160020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3749039"/>
            <a:ext cx="64008" cy="160020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Страховщик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Андеррайтинг, полис,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87368" y="3749039"/>
            <a:ext cx="3154680" cy="16002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87368" y="3749039"/>
            <a:ext cx="64008" cy="16002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MyID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59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KYC session и результат в согласованном периметре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0375" y="3749039"/>
            <a:ext cx="3154680" cy="16002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0375" y="3749039"/>
            <a:ext cx="64008" cy="16002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44967" y="3886200"/>
            <a:ext cx="28620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Пользователь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44967" y="4251959"/>
            <a:ext cx="2862072" cy="10058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566C87"/>
                </a:solidFill>
                <a:latin typeface="Aptos"/>
              </a:rPr>
              <a:t>Выбор, согласие, подтверждение, распоряжение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760720"/>
            <a:ext cx="106984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C25548"/>
                </a:solidFill>
                <a:latin typeface="Aptos"/>
              </a:rPr>
              <a:t>B1Pay не принимает на себя роль регулируемого поставщика без отдельного основания, лицензии и договора.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05 |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Продуктовая карта: сейчас и после согласования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От независимой витрины к partner-led financial 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303520" cy="3977639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4008" cy="3977639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5010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Сейчас — marketplace / information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5010912" cy="338327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566C87"/>
                </a:solidFill>
                <a:latin typeface="Aptos"/>
              </a:rPr>
              <a:t>• Банки, кредиты, микрозаймы
• Карты и депозиты
• Страхование
• Калькуляторы и сравнение
• Заявка / lead routing
• MyID + QR-вход
• Инвестиционный каталог с раскрытием рисков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257800" cy="3977639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600200"/>
            <a:ext cx="64008" cy="3977639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737360"/>
            <a:ext cx="49651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Два разных workstream после согласования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103120"/>
            <a:ext cx="4965192" cy="338327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20" b="0" i="0">
                <a:solidFill>
                  <a:srgbClr val="566C87"/>
                </a:solidFill>
                <a:latin typeface="Aptos"/>
              </a:rPr>
              <a:t>• Merchant/acquiring/e-commerce API — отдельный технический контур
• P2P / card-to-card / payment-service — отдельная legal/licensing проверка
• Webhooks и reconciliation
• Ограниченные лимиты и пилотная группа
• Статусы, возвраты, dispute/chargeback
• Отдельный legal perimeter инвестиций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744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566C87"/>
                </a:solidFill>
                <a:latin typeface="Aptos"/>
              </a:rPr>
              <a:t>На сайте и в приложении можно заранее показать P2P как «В разработке», не создавая обещания доступности.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06 | P2P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P2P-перевод: целевой поток после согласования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Final status приходит от Octo/банка; клиент не меняет его локально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1965960" cy="2377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965960"/>
            <a:ext cx="64008" cy="2377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1  Пользователь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Выбирает перевод, сумму и получателя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4203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88920" y="1965960"/>
            <a:ext cx="1965960" cy="2377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88920" y="1965960"/>
            <a:ext cx="64008" cy="2377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2  B1Pay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5351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Проверяет сессию, consent, лимит и device risk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8231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029200" y="1965960"/>
            <a:ext cx="1965960" cy="23774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0" y="1965960"/>
            <a:ext cx="64008" cy="23774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79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3  Octo / банк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79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Signed API request + AML/fraud/limits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2259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69480" y="1965960"/>
            <a:ext cx="1965960" cy="2377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69480" y="1965960"/>
            <a:ext cx="64008" cy="2377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3407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4  Webhook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pending → success / failed / reversed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62872" y="3154680"/>
            <a:ext cx="210312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509760" y="1965960"/>
            <a:ext cx="1965960" cy="2377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09760" y="1965960"/>
            <a:ext cx="64008" cy="2377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74352" y="2103120"/>
            <a:ext cx="1673351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5  B1Pay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2468880"/>
            <a:ext cx="1673351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Reconcile, receipt, support/dispute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892040"/>
            <a:ext cx="5120640" cy="1024128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" y="4892040"/>
            <a:ext cx="68580" cy="1024128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5029200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Обязательные 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5376672"/>
            <a:ext cx="4818888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02D3E"/>
                </a:solidFill>
                <a:latin typeface="Aptos"/>
              </a:defRPr>
            </a:pPr>
            <a:r>
              <a:t>Idempotency key · webhook signature · TTL · reconciliation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55080" y="4892040"/>
            <a:ext cx="5029200" cy="1024128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4892040"/>
            <a:ext cx="68580" cy="1024128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19672" y="5029200"/>
            <a:ext cx="47548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Go / no-go gate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19672" y="5376672"/>
            <a:ext cx="4727448" cy="429768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202D3E"/>
                </a:solidFill>
                <a:latin typeface="Aptos"/>
              </a:defRPr>
            </a:pPr>
            <a:r>
              <a:t>Legal role · contract · sandbox · limits · AML/RACI · incident runbook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07 | IDENTITY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MyID + QR: безопасная связка web и телефона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Web показывает только короткоживущую сессию; подтверждение выполняется на телефоне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45920"/>
            <a:ext cx="3017520" cy="33375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45920"/>
            <a:ext cx="64008" cy="33375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1. Создать session
2. Получить QR с nonce/TTL
3. Ждать signed completion
Не хранит биометрию и не принимает фото документа.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44568" y="1645920"/>
            <a:ext cx="3017520" cy="33375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44568" y="1645920"/>
            <a:ext cx="64008" cy="33375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59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Mobile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1. Пользователь входит через MyID
2. Сканирует/подтверждает QR
3. Показывает понятное действие
4. Отправляет approve одноразово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94776" y="1645920"/>
            <a:ext cx="3017520" cy="333756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94776" y="1645920"/>
            <a:ext cx="64008" cy="333756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7" y="1783080"/>
            <a:ext cx="27249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B1Pay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7" y="2148840"/>
            <a:ext cx="2724912" cy="2743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TTL · nonce · device binding
replay prevention · audit
Передаёт партнёру только нужный минимум и статус сессии.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39312" y="3273552"/>
            <a:ext cx="886968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89520" y="3273552"/>
            <a:ext cx="877824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5532120"/>
            <a:ext cx="1069848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Consent должен быть отдельным, понятным и журналироваться: цель, объём, получатель, время, срок и возможность отзыва.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08 |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Системная схема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Общий control plane для web, Android и партнёрских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17320"/>
            <a:ext cx="2331720" cy="914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17320"/>
            <a:ext cx="64008" cy="9144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catalog · QR · applications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417320"/>
            <a:ext cx="2331720" cy="914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1417320"/>
            <a:ext cx="64008" cy="914400"/>
          </a:xfrm>
          <a:prstGeom prst="rect">
            <a:avLst/>
          </a:prstGeom>
          <a:solidFill>
            <a:srgbClr val="2CB1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Flutter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MyID · QR · status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1417320"/>
            <a:ext cx="2331720" cy="9144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15000" y="1417320"/>
            <a:ext cx="64008" cy="9144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9592" y="155448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Admin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9592" y="1920240"/>
            <a:ext cx="20391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offers · cases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75320" y="1417320"/>
            <a:ext cx="3246120" cy="9144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75320" y="1417320"/>
            <a:ext cx="64008" cy="9144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1554480"/>
            <a:ext cx="29535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Partner portal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9912" y="1920240"/>
            <a:ext cx="295351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SLA · leads ·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51560" y="2743200"/>
            <a:ext cx="10149840" cy="1325880"/>
          </a:xfrm>
          <a:prstGeom prst="roundRect">
            <a:avLst/>
          </a:prstGeom>
          <a:solidFill>
            <a:srgbClr val="EBF2F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2743200"/>
            <a:ext cx="64008" cy="132588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6151" y="2880360"/>
            <a:ext cx="985723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 i="0">
                <a:solidFill>
                  <a:srgbClr val="112A4D"/>
                </a:solidFill>
                <a:latin typeface="Aptos"/>
              </a:rPr>
              <a:t>B1Pay API + Integration Gateway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16151" y="3246120"/>
            <a:ext cx="9857232" cy="7315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Auth/session · catalog · consent ledger · application routing · payment state machine · webhook processor · reconciliation · risk/AML queue · audit/observability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800600"/>
            <a:ext cx="2331720" cy="9601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" y="4800600"/>
            <a:ext cx="64008" cy="9601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MyID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KYC session/status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54680" y="4800600"/>
            <a:ext cx="2331720" cy="9601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54680" y="4800600"/>
            <a:ext cx="64008" cy="9601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1927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Octo / bank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1927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P2P · payout · settlement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715000" y="4800600"/>
            <a:ext cx="2331720" cy="96012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715000" y="4800600"/>
            <a:ext cx="64008" cy="96012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79592" y="4937760"/>
            <a:ext cx="20391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Bank / MFO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79592" y="5303520"/>
            <a:ext cx="20391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credit decision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75320" y="4800600"/>
            <a:ext cx="3246120" cy="96012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75320" y="4800600"/>
            <a:ext cx="64008" cy="96012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39912" y="4937760"/>
            <a:ext cx="295351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Insurer / investment perimeter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39912" y="5303520"/>
            <a:ext cx="2953512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566C87"/>
                </a:solidFill>
                <a:latin typeface="Aptos"/>
              </a:rPr>
              <a:t>policy or separately governed module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5564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31596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7628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893808" y="2359152"/>
            <a:ext cx="0" cy="374904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75564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1596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87628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893808" y="4087368"/>
            <a:ext cx="0" cy="685800"/>
          </a:xfrm>
          <a:prstGeom prst="line">
            <a:avLst/>
          </a:prstGeom>
          <a:ln w="1905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09 |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Compliance и безопасность — обязательная часть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Пилот должен быть ограничен, наблюдаем и готов к аудиту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3520440" cy="3977639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3977639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3246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KYC / 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2"/>
            <a:ext cx="321868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Owner-of-record у лицензированного партнёра.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Риск-уровни, санкции/PEP, лимиты и manual review.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Письменный RACI и escalation path.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Журнал согласий и доказательств.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600200"/>
            <a:ext cx="3520440" cy="3977639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600200"/>
            <a:ext cx="68580" cy="3977639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737360"/>
            <a:ext cx="3246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084832"/>
            <a:ext cx="321868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Secrets только в server-side secret manager.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HMAC/mTLS/IP allowlist для partner API.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No raw PAN/CVV, passport photos or biometrics in logs.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RBAC + MFA, monitoring, incident runbook.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600200"/>
            <a:ext cx="3474720" cy="3977639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600200"/>
            <a:ext cx="68580" cy="3977639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1" y="1737360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Consumer protection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084832"/>
            <a:ext cx="3172968" cy="3383279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Источник, дата обновления и sponsored disclosure.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Решение по кредиту/страхованию принимает партнёр.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Комиссии, риски, возврат и complaint path понятны.</a:t>
            </a:r>
          </a:p>
          <a:p>
            <a:pPr>
              <a:spcAft>
                <a:spcPts val="500"/>
              </a:spcAft>
              <a:defRPr sz="1150">
                <a:solidFill>
                  <a:srgbClr val="202D3E"/>
                </a:solidFill>
                <a:latin typeface="Aptos"/>
              </a:defRPr>
            </a:pPr>
            <a:r>
              <a:t>Никаких обещаний гарантированного дохода.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10 |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Модель доходов и стимулы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Монетизация должна быть прозрачной и не менять независимый рейтинг скрыто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1920240"/>
            <a:ext cx="2514600" cy="21488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" y="1920240"/>
            <a:ext cx="64008" cy="21488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CPL / CPA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за квалифицированную заявку или одобренный продукт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920240"/>
            <a:ext cx="2514600" cy="21488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1296" y="1920240"/>
            <a:ext cx="64008" cy="21488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8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Revenue share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8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за операцию, если это допустимо договором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920240"/>
            <a:ext cx="2514600" cy="21488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920240"/>
            <a:ext cx="64008" cy="21488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5392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Sponsored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платное размещение с явной маркировкой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90304" y="1920240"/>
            <a:ext cx="2514600" cy="214884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4" y="1920240"/>
            <a:ext cx="64008" cy="214884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54896" y="2057400"/>
            <a:ext cx="2221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SaaS / white-label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423160"/>
            <a:ext cx="2221992" cy="1554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кабинет и API для партнёров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709160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Пользователь должен видеть, когда карточка оплачена, и всегда видеть официальный источник и дату обновления.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97280" y="5257800"/>
            <a:ext cx="4617720" cy="82296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" y="5257800"/>
            <a:ext cx="68580" cy="82296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61872" y="5394960"/>
            <a:ext cx="4343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Экономическая воронка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5742432"/>
            <a:ext cx="431596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202D3E"/>
                </a:solidFill>
                <a:latin typeface="Aptos"/>
              </a:defRPr>
            </a:pPr>
            <a:r>
              <a:t>view → click → application → KYC → approval → operation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257800"/>
            <a:ext cx="4617720" cy="82296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5257800"/>
            <a:ext cx="68580" cy="82296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65392" y="5394960"/>
            <a:ext cx="4343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Контроль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65392" y="5742432"/>
            <a:ext cx="4315968" cy="22860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202D3E"/>
                </a:solidFill>
                <a:latin typeface="Aptos"/>
              </a:defRPr>
            </a:pPr>
            <a:r>
              <a:t>CPL/CPA, fraud rate, SLA, dispute rate, revenue reconciliation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11 |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Дорожная карта запуска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Порядок: сначала legal/discovery, затем каталог и пилот, потом регулируемые rails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2487168" cy="251460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64008" cy="251460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0  Legal &amp;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2–4 недели
роль B1Pay, договор, RACI, sandbox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63240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38144" y="1828800"/>
            <a:ext cx="2487168" cy="25146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38144" y="1828800"/>
            <a:ext cx="64008" cy="25146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1  Catalog &amp;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2736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4–6 недель
offers, consent, MyID/QR, status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52744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27648" y="1828800"/>
            <a:ext cx="2487168" cy="251460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828800"/>
            <a:ext cx="64008" cy="251460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2  Controlled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6–10 недель
1–2 партнёра, limits, monitoring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42248" y="3063240"/>
            <a:ext cx="320040" cy="0"/>
          </a:xfrm>
          <a:prstGeom prst="line">
            <a:avLst/>
          </a:prstGeom>
          <a:ln w="25400">
            <a:solidFill>
              <a:srgbClr val="1264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17152" y="1828800"/>
            <a:ext cx="2487168" cy="251460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17152" y="1828800"/>
            <a:ext cx="64008" cy="251460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81744" y="1965960"/>
            <a:ext cx="21945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3 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2331720"/>
            <a:ext cx="2194560" cy="1920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50" b="0" i="0">
                <a:solidFill>
                  <a:srgbClr val="566C87"/>
                </a:solidFill>
                <a:latin typeface="Aptos"/>
              </a:rPr>
              <a:t>после approval
P2P/payout, more partners, white-label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92040"/>
            <a:ext cx="1051560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1" i="0">
                <a:solidFill>
                  <a:srgbClr val="C25548"/>
                </a:solidFill>
                <a:latin typeface="Aptos"/>
              </a:rPr>
              <a:t>P2P feature flag остаётся выключенным до прохождения юридического и технического approval gate.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440680"/>
            <a:ext cx="105156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0" i="0">
                <a:solidFill>
                  <a:srgbClr val="566C87"/>
                </a:solidFill>
                <a:latin typeface="Aptos"/>
              </a:rPr>
              <a:t>Веб и приложение развиваются из одной API-модели, поэтому partner status и consent одинаковы на обеих платформах.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12 | PARTNER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Что просим у Octo на первой встрече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Конкретный список решений делает пилот измеримым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600200"/>
            <a:ext cx="5349240" cy="416052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600200"/>
            <a:ext cx="68580" cy="416052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737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Коммерция и право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084832"/>
            <a:ext cx="5047488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Какие merchant/acquiring/e-commerce API доступны в Octo?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Какие P2P/card-to-card/payment-service сценарии допустимы отдельно?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Какая юридическая роль нужна B1Pay и какие документы обязательны?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Кто заключает договор с пользователем и кто owner-of-record по AML/KYC?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Комиссии, settlement, SLA, chargeback/refund и support escalation.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5349240" cy="416052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68580" cy="416052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737360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Техника и 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2512" y="2084832"/>
            <a:ext cx="5047488" cy="356616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Sandbox, API docs, signing, webhook events and error codes.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Лимиты, idempotency, reconciliation и тестовые реквизиты.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Security questionnaire, IP allowlist, certificates, monitoring.</a:t>
            </a:r>
          </a:p>
          <a:p>
            <a:pPr>
              <a:spcAft>
                <a:spcPts val="500"/>
              </a:spcAft>
              <a:defRPr sz="1140">
                <a:solidFill>
                  <a:srgbClr val="202D3E"/>
                </a:solidFill>
                <a:latin typeface="Aptos"/>
              </a:defRPr>
            </a:pPr>
            <a:r>
              <a:t>Пилотная группа, продукт, срок, KPI и go/no-go критерии.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105156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12A4D"/>
                </a:solidFill>
                <a:latin typeface="Aptos"/>
              </a:rPr>
              <a:t>Предложение: совместный discovery workshop на 90 минут и затем короткий sandbox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13 |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Как поймём, что пилот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Результат — не только транзакции, но и управляемый риск, качество данных и понятный UX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83080"/>
            <a:ext cx="4983480" cy="123444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83080"/>
            <a:ext cx="64008" cy="123444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19202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Конверсия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2860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view → click → application → KYC →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4983480" cy="1234440"/>
          </a:xfrm>
          <a:prstGeom prst="roundRect">
            <a:avLst/>
          </a:prstGeom>
          <a:solidFill>
            <a:srgbClr val="EDF8F1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783080"/>
            <a:ext cx="64008" cy="1234440"/>
          </a:xfrm>
          <a:prstGeom prst="rect">
            <a:avLst/>
          </a:prstGeom>
          <a:solidFill>
            <a:srgbClr val="249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19202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Надёжность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22860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success rate, pending time, webhook delivery, reversals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383280"/>
            <a:ext cx="4983480" cy="1234440"/>
          </a:xfrm>
          <a:prstGeom prst="roundRect">
            <a:avLst/>
          </a:prstGeom>
          <a:solidFill>
            <a:srgbClr val="FFF1ED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383280"/>
            <a:ext cx="64008" cy="1234440"/>
          </a:xfrm>
          <a:prstGeom prst="rect">
            <a:avLst/>
          </a:prstGeom>
          <a:solidFill>
            <a:srgbClr val="C255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5204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Риск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8862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fraud rate, AML cases, complaint rate, dispute 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383280"/>
            <a:ext cx="4983480" cy="1234440"/>
          </a:xfrm>
          <a:prstGeom prst="roundRect">
            <a:avLst/>
          </a:prstGeom>
          <a:solidFill>
            <a:srgbClr val="FFF4D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383280"/>
            <a:ext cx="64008" cy="1234440"/>
          </a:xfrm>
          <a:prstGeom prst="rect">
            <a:avLst/>
          </a:prstGeom>
          <a:solidFill>
            <a:srgbClr val="F5B5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1" y="3520440"/>
            <a:ext cx="469087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112A4D"/>
                </a:solidFill>
                <a:latin typeface="Aptos"/>
              </a:rPr>
              <a:t>Экономика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3886200"/>
            <a:ext cx="46908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CPL/CPA, CAC, revenue per lead, reconciliation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212080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112A4D"/>
                </a:solidFill>
                <a:latin typeface="Aptos"/>
              </a:rPr>
              <a:t>Главная метрика: пользователь получает прозрачный путь и правильный статус, а партнёр — качественную заявку/операцию в контролируемом контуре.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828800" cy="301752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800" b="1">
                <a:solidFill>
                  <a:srgbClr val="1264D6"/>
                </a:solidFill>
                <a:latin typeface="Aptos"/>
              </a:rPr>
              <a:t>B1</a:t>
            </a:r>
            <a:r>
              <a:rPr sz="1800" b="1">
                <a:solidFill>
                  <a:srgbClr val="112A4D"/>
                </a:solidFill>
                <a:latin typeface="Aptos"/>
              </a:rPr>
              <a:t>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32004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1264D6"/>
                </a:solidFill>
                <a:latin typeface="Aptos"/>
              </a:rPr>
              <a:t>14 |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502920"/>
            <a:ext cx="1106424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12A4D"/>
                </a:solidFill>
                <a:latin typeface="Aptos"/>
              </a:rPr>
              <a:t>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566C87"/>
                </a:solidFill>
                <a:latin typeface="Aptos"/>
              </a:rPr>
              <a:t>B1Pay готовит UX и технический контур; Octo помогает определить допустимый regulated perimeter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6510528"/>
            <a:ext cx="11320272" cy="7315"/>
          </a:xfrm>
          <a:prstGeom prst="rect">
            <a:avLst/>
          </a:prstGeom>
          <a:solidFill>
            <a:srgbClr val="B7CB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565392"/>
            <a:ext cx="82296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0" i="0">
                <a:solidFill>
                  <a:srgbClr val="566C87"/>
                </a:solidFill>
                <a:latin typeface="Aptos"/>
              </a:rPr>
              <a:t>B1Pay × Octo | Концепция для переговоров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547104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 i="0">
                <a:solidFill>
                  <a:srgbClr val="566C87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200" b="1" i="0">
                <a:solidFill>
                  <a:srgbClr val="112A4D"/>
                </a:solidFill>
                <a:latin typeface="Aptos"/>
              </a:rPr>
              <a:t>Предлагаем совместно подтвердить: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2514600"/>
            <a:ext cx="8503920" cy="2057400"/>
          </a:xfrm>
          <a:prstGeom prst="roundRect">
            <a:avLst/>
          </a:prstGeom>
          <a:solidFill>
            <a:srgbClr val="E9F2FF"/>
          </a:solidFill>
          <a:ln w="12700">
            <a:solidFill>
              <a:srgbClr val="B7C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2514600"/>
            <a:ext cx="68580" cy="2057400"/>
          </a:xfrm>
          <a:prstGeom prst="rect">
            <a:avLst/>
          </a:prstGeom>
          <a:solidFill>
            <a:srgbClr val="1264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3392" y="2651760"/>
            <a:ext cx="8229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12A4D"/>
                </a:solidFill>
                <a:latin typeface="Aptos"/>
              </a:rPr>
              <a:t>Decision pack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3392" y="2999232"/>
            <a:ext cx="8202168" cy="1463040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роль B1Pay + список разрешённых продуктов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sandbox/API + security/AML requirements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пилотный продукт, группа, лимиты и KPI</a:t>
            </a:r>
          </a:p>
          <a:p>
            <a:pPr>
              <a:spcAft>
                <a:spcPts val="500"/>
              </a:spcAft>
              <a:defRPr sz="1500">
                <a:solidFill>
                  <a:srgbClr val="202D3E"/>
                </a:solidFill>
                <a:latin typeface="Aptos"/>
              </a:defRPr>
            </a:pPr>
            <a:r>
              <a:t>go/no-go критерии для P2P/payout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66360"/>
            <a:ext cx="1033272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 i="0">
                <a:solidFill>
                  <a:srgbClr val="1264D6"/>
                </a:solidFill>
                <a:latin typeface="Aptos"/>
              </a:rPr>
              <a:t>Спасибо. Контакт для workshop: команда B1Pay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15000"/>
            <a:ext cx="10332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566C87"/>
                </a:solidFill>
                <a:latin typeface="Aptos"/>
              </a:rPr>
              <a:t>Приложения: business_model.md • architecture.md • platform_architecture.svg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B1Pay × Octo — предложение о партнёрстве</dc:title>
  <dc:subject>Партнёрская модель, архитектура и пилот</dc:subject>
  <dc:creator>B1Pay</dc:creator>
  <cp:keywords>B1Pay, Octo, Uzbekistan, fintech, P2P, MyID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